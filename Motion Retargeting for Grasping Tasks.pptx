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28E863C6-828D-4C74-92F8-7577BFF49AA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78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2511ACB-44A0-48C2-B9F3-BEA474299A4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DDEFE0C-F6E1-4C96-BC49-71258A019B5C}">
      <dgm:prSet/>
      <dgm:spPr/>
      <dgm:t>
        <a:bodyPr/>
        <a:lstStyle/>
        <a:p>
          <a:r>
            <a:rPr lang="en-US"/>
            <a:t>Robotic hands have many DoFs; difficult to control manually.</a:t>
          </a:r>
        </a:p>
      </dgm:t>
    </dgm:pt>
    <dgm:pt modelId="{FE287C06-5CDF-446B-AFDF-06546B3E9983}" type="parTrans" cxnId="{71B3C63B-9CC5-499D-8053-D84CA206D498}">
      <dgm:prSet/>
      <dgm:spPr/>
      <dgm:t>
        <a:bodyPr/>
        <a:lstStyle/>
        <a:p>
          <a:endParaRPr lang="en-US"/>
        </a:p>
      </dgm:t>
    </dgm:pt>
    <dgm:pt modelId="{F79A674A-A6BE-436D-93AE-DBBB74BAAF24}" type="sibTrans" cxnId="{71B3C63B-9CC5-499D-8053-D84CA206D498}">
      <dgm:prSet/>
      <dgm:spPr/>
      <dgm:t>
        <a:bodyPr/>
        <a:lstStyle/>
        <a:p>
          <a:endParaRPr lang="en-US"/>
        </a:p>
      </dgm:t>
    </dgm:pt>
    <dgm:pt modelId="{C1E61E19-4DE3-4B3C-8A4B-E6E0BA3FB966}">
      <dgm:prSet/>
      <dgm:spPr/>
      <dgm:t>
        <a:bodyPr/>
        <a:lstStyle/>
        <a:p>
          <a:r>
            <a:rPr lang="en-US"/>
            <a:t>Humans use </a:t>
          </a:r>
          <a:r>
            <a:rPr lang="en-US" b="1"/>
            <a:t>Postural Synergies</a:t>
          </a:r>
          <a:r>
            <a:rPr lang="en-US"/>
            <a:t> to simplify control.</a:t>
          </a:r>
        </a:p>
      </dgm:t>
    </dgm:pt>
    <dgm:pt modelId="{63669484-A9B2-41B2-8873-9F9D18EE49E5}" type="parTrans" cxnId="{397F536B-744C-4E75-BE60-738E42B1ACF2}">
      <dgm:prSet/>
      <dgm:spPr/>
      <dgm:t>
        <a:bodyPr/>
        <a:lstStyle/>
        <a:p>
          <a:endParaRPr lang="en-US"/>
        </a:p>
      </dgm:t>
    </dgm:pt>
    <dgm:pt modelId="{B2C92E15-BEBD-45A7-A768-45BF0990F6EA}" type="sibTrans" cxnId="{397F536B-744C-4E75-BE60-738E42B1ACF2}">
      <dgm:prSet/>
      <dgm:spPr/>
      <dgm:t>
        <a:bodyPr/>
        <a:lstStyle/>
        <a:p>
          <a:endParaRPr lang="en-US"/>
        </a:p>
      </dgm:t>
    </dgm:pt>
    <dgm:pt modelId="{6F517813-5DC5-4D9F-B97D-3020AAA78757}">
      <dgm:prSet/>
      <dgm:spPr/>
      <dgm:t>
        <a:bodyPr/>
        <a:lstStyle/>
        <a:p>
          <a:r>
            <a:rPr lang="en-US" b="1"/>
            <a:t>Objective:</a:t>
          </a:r>
          <a:r>
            <a:rPr lang="en-US"/>
            <a:t> Use human synergies to drive robots with different kinematics.</a:t>
          </a:r>
          <a:br>
            <a:rPr lang="en-US"/>
          </a:br>
          <a:endParaRPr lang="en-US"/>
        </a:p>
      </dgm:t>
    </dgm:pt>
    <dgm:pt modelId="{E526D7C5-5DCE-4DA3-87E6-2845B1A54EA2}" type="parTrans" cxnId="{ECD1AB5A-D411-46FD-AAC9-226CD05C39C0}">
      <dgm:prSet/>
      <dgm:spPr/>
      <dgm:t>
        <a:bodyPr/>
        <a:lstStyle/>
        <a:p>
          <a:endParaRPr lang="en-US"/>
        </a:p>
      </dgm:t>
    </dgm:pt>
    <dgm:pt modelId="{4EB52BD7-57A8-4B02-BDEC-2DEE63C6BE46}" type="sibTrans" cxnId="{ECD1AB5A-D411-46FD-AAC9-226CD05C39C0}">
      <dgm:prSet/>
      <dgm:spPr/>
      <dgm:t>
        <a:bodyPr/>
        <a:lstStyle/>
        <a:p>
          <a:endParaRPr lang="en-US"/>
        </a:p>
      </dgm:t>
    </dgm:pt>
    <dgm:pt modelId="{7DE73016-069E-404E-8E96-30FB2CC57F69}" type="pres">
      <dgm:prSet presAssocID="{82511ACB-44A0-48C2-B9F3-BEA474299A47}" presName="vert0" presStyleCnt="0">
        <dgm:presLayoutVars>
          <dgm:dir/>
          <dgm:animOne val="branch"/>
          <dgm:animLvl val="lvl"/>
        </dgm:presLayoutVars>
      </dgm:prSet>
      <dgm:spPr/>
    </dgm:pt>
    <dgm:pt modelId="{12ABC122-B150-4CF1-ABDC-2D3C775761B7}" type="pres">
      <dgm:prSet presAssocID="{CDDEFE0C-F6E1-4C96-BC49-71258A019B5C}" presName="thickLine" presStyleLbl="alignNode1" presStyleIdx="0" presStyleCnt="3"/>
      <dgm:spPr/>
    </dgm:pt>
    <dgm:pt modelId="{78982B0B-6166-45DC-AD8A-F4F510E8C055}" type="pres">
      <dgm:prSet presAssocID="{CDDEFE0C-F6E1-4C96-BC49-71258A019B5C}" presName="horz1" presStyleCnt="0"/>
      <dgm:spPr/>
    </dgm:pt>
    <dgm:pt modelId="{48BB1F98-186E-4FDB-97B7-7C813BC775D7}" type="pres">
      <dgm:prSet presAssocID="{CDDEFE0C-F6E1-4C96-BC49-71258A019B5C}" presName="tx1" presStyleLbl="revTx" presStyleIdx="0" presStyleCnt="3"/>
      <dgm:spPr/>
    </dgm:pt>
    <dgm:pt modelId="{947F1BCD-9606-4BC7-B8A3-B5831FBD17D6}" type="pres">
      <dgm:prSet presAssocID="{CDDEFE0C-F6E1-4C96-BC49-71258A019B5C}" presName="vert1" presStyleCnt="0"/>
      <dgm:spPr/>
    </dgm:pt>
    <dgm:pt modelId="{578E3FA1-BE50-470D-B925-FF4D16EA5431}" type="pres">
      <dgm:prSet presAssocID="{C1E61E19-4DE3-4B3C-8A4B-E6E0BA3FB966}" presName="thickLine" presStyleLbl="alignNode1" presStyleIdx="1" presStyleCnt="3"/>
      <dgm:spPr/>
    </dgm:pt>
    <dgm:pt modelId="{955053B2-646E-4894-BF1B-CC6948B32DD7}" type="pres">
      <dgm:prSet presAssocID="{C1E61E19-4DE3-4B3C-8A4B-E6E0BA3FB966}" presName="horz1" presStyleCnt="0"/>
      <dgm:spPr/>
    </dgm:pt>
    <dgm:pt modelId="{2E230301-6662-44A0-B028-AAA91C595FE0}" type="pres">
      <dgm:prSet presAssocID="{C1E61E19-4DE3-4B3C-8A4B-E6E0BA3FB966}" presName="tx1" presStyleLbl="revTx" presStyleIdx="1" presStyleCnt="3"/>
      <dgm:spPr/>
    </dgm:pt>
    <dgm:pt modelId="{83CF3A24-8D37-440D-9E47-950F39241459}" type="pres">
      <dgm:prSet presAssocID="{C1E61E19-4DE3-4B3C-8A4B-E6E0BA3FB966}" presName="vert1" presStyleCnt="0"/>
      <dgm:spPr/>
    </dgm:pt>
    <dgm:pt modelId="{4E3CD7F8-B657-4D3D-88BC-E75BE2A2BF52}" type="pres">
      <dgm:prSet presAssocID="{6F517813-5DC5-4D9F-B97D-3020AAA78757}" presName="thickLine" presStyleLbl="alignNode1" presStyleIdx="2" presStyleCnt="3"/>
      <dgm:spPr/>
    </dgm:pt>
    <dgm:pt modelId="{16DDC013-B534-43A3-9E86-6EDD3C4569E3}" type="pres">
      <dgm:prSet presAssocID="{6F517813-5DC5-4D9F-B97D-3020AAA78757}" presName="horz1" presStyleCnt="0"/>
      <dgm:spPr/>
    </dgm:pt>
    <dgm:pt modelId="{126F5D81-6254-4FBF-A688-963FB1ED8B33}" type="pres">
      <dgm:prSet presAssocID="{6F517813-5DC5-4D9F-B97D-3020AAA78757}" presName="tx1" presStyleLbl="revTx" presStyleIdx="2" presStyleCnt="3"/>
      <dgm:spPr/>
    </dgm:pt>
    <dgm:pt modelId="{E7EDEA90-92F5-4650-BF2F-7FEAF5685929}" type="pres">
      <dgm:prSet presAssocID="{6F517813-5DC5-4D9F-B97D-3020AAA78757}" presName="vert1" presStyleCnt="0"/>
      <dgm:spPr/>
    </dgm:pt>
  </dgm:ptLst>
  <dgm:cxnLst>
    <dgm:cxn modelId="{A60DBD17-16BC-436D-A1DA-48F1388FC3FB}" type="presOf" srcId="{C1E61E19-4DE3-4B3C-8A4B-E6E0BA3FB966}" destId="{2E230301-6662-44A0-B028-AAA91C595FE0}" srcOrd="0" destOrd="0" presId="urn:microsoft.com/office/officeart/2008/layout/LinedList"/>
    <dgm:cxn modelId="{71B3C63B-9CC5-499D-8053-D84CA206D498}" srcId="{82511ACB-44A0-48C2-B9F3-BEA474299A47}" destId="{CDDEFE0C-F6E1-4C96-BC49-71258A019B5C}" srcOrd="0" destOrd="0" parTransId="{FE287C06-5CDF-446B-AFDF-06546B3E9983}" sibTransId="{F79A674A-A6BE-436D-93AE-DBBB74BAAF24}"/>
    <dgm:cxn modelId="{397F536B-744C-4E75-BE60-738E42B1ACF2}" srcId="{82511ACB-44A0-48C2-B9F3-BEA474299A47}" destId="{C1E61E19-4DE3-4B3C-8A4B-E6E0BA3FB966}" srcOrd="1" destOrd="0" parTransId="{63669484-A9B2-41B2-8873-9F9D18EE49E5}" sibTransId="{B2C92E15-BEBD-45A7-A768-45BF0990F6EA}"/>
    <dgm:cxn modelId="{DF5E9974-FA7E-4285-908B-4A1656327F44}" type="presOf" srcId="{82511ACB-44A0-48C2-B9F3-BEA474299A47}" destId="{7DE73016-069E-404E-8E96-30FB2CC57F69}" srcOrd="0" destOrd="0" presId="urn:microsoft.com/office/officeart/2008/layout/LinedList"/>
    <dgm:cxn modelId="{ECD1AB5A-D411-46FD-AAC9-226CD05C39C0}" srcId="{82511ACB-44A0-48C2-B9F3-BEA474299A47}" destId="{6F517813-5DC5-4D9F-B97D-3020AAA78757}" srcOrd="2" destOrd="0" parTransId="{E526D7C5-5DCE-4DA3-87E6-2845B1A54EA2}" sibTransId="{4EB52BD7-57A8-4B02-BDEC-2DEE63C6BE46}"/>
    <dgm:cxn modelId="{D0EF9CC8-728A-4A76-B79A-316083437B99}" type="presOf" srcId="{6F517813-5DC5-4D9F-B97D-3020AAA78757}" destId="{126F5D81-6254-4FBF-A688-963FB1ED8B33}" srcOrd="0" destOrd="0" presId="urn:microsoft.com/office/officeart/2008/layout/LinedList"/>
    <dgm:cxn modelId="{C59DE9D5-364F-4D4B-95FB-EE6F4C5185E5}" type="presOf" srcId="{CDDEFE0C-F6E1-4C96-BC49-71258A019B5C}" destId="{48BB1F98-186E-4FDB-97B7-7C813BC775D7}" srcOrd="0" destOrd="0" presId="urn:microsoft.com/office/officeart/2008/layout/LinedList"/>
    <dgm:cxn modelId="{3B6469B9-BA18-4906-ADD2-A8396A2A4398}" type="presParOf" srcId="{7DE73016-069E-404E-8E96-30FB2CC57F69}" destId="{12ABC122-B150-4CF1-ABDC-2D3C775761B7}" srcOrd="0" destOrd="0" presId="urn:microsoft.com/office/officeart/2008/layout/LinedList"/>
    <dgm:cxn modelId="{04CADF0B-77FA-486F-B8CE-EFFCFB8BCC65}" type="presParOf" srcId="{7DE73016-069E-404E-8E96-30FB2CC57F69}" destId="{78982B0B-6166-45DC-AD8A-F4F510E8C055}" srcOrd="1" destOrd="0" presId="urn:microsoft.com/office/officeart/2008/layout/LinedList"/>
    <dgm:cxn modelId="{A17D7F3F-3FA5-4D61-A32E-A67494600A5E}" type="presParOf" srcId="{78982B0B-6166-45DC-AD8A-F4F510E8C055}" destId="{48BB1F98-186E-4FDB-97B7-7C813BC775D7}" srcOrd="0" destOrd="0" presId="urn:microsoft.com/office/officeart/2008/layout/LinedList"/>
    <dgm:cxn modelId="{18692EA1-95BD-437F-8596-31C92C9D1AC3}" type="presParOf" srcId="{78982B0B-6166-45DC-AD8A-F4F510E8C055}" destId="{947F1BCD-9606-4BC7-B8A3-B5831FBD17D6}" srcOrd="1" destOrd="0" presId="urn:microsoft.com/office/officeart/2008/layout/LinedList"/>
    <dgm:cxn modelId="{0C076A4C-23DC-4D91-ACE9-B0271FF43479}" type="presParOf" srcId="{7DE73016-069E-404E-8E96-30FB2CC57F69}" destId="{578E3FA1-BE50-470D-B925-FF4D16EA5431}" srcOrd="2" destOrd="0" presId="urn:microsoft.com/office/officeart/2008/layout/LinedList"/>
    <dgm:cxn modelId="{172E026D-4C8A-4AFA-BA6E-603A003E2BB9}" type="presParOf" srcId="{7DE73016-069E-404E-8E96-30FB2CC57F69}" destId="{955053B2-646E-4894-BF1B-CC6948B32DD7}" srcOrd="3" destOrd="0" presId="urn:microsoft.com/office/officeart/2008/layout/LinedList"/>
    <dgm:cxn modelId="{7C09F5B4-7679-4C90-9FA3-8B4213150D8C}" type="presParOf" srcId="{955053B2-646E-4894-BF1B-CC6948B32DD7}" destId="{2E230301-6662-44A0-B028-AAA91C595FE0}" srcOrd="0" destOrd="0" presId="urn:microsoft.com/office/officeart/2008/layout/LinedList"/>
    <dgm:cxn modelId="{216B9083-563C-4F4F-B9C6-29707BA8CA08}" type="presParOf" srcId="{955053B2-646E-4894-BF1B-CC6948B32DD7}" destId="{83CF3A24-8D37-440D-9E47-950F39241459}" srcOrd="1" destOrd="0" presId="urn:microsoft.com/office/officeart/2008/layout/LinedList"/>
    <dgm:cxn modelId="{8747A675-7412-4FDA-9748-03559EF3860D}" type="presParOf" srcId="{7DE73016-069E-404E-8E96-30FB2CC57F69}" destId="{4E3CD7F8-B657-4D3D-88BC-E75BE2A2BF52}" srcOrd="4" destOrd="0" presId="urn:microsoft.com/office/officeart/2008/layout/LinedList"/>
    <dgm:cxn modelId="{5359E996-FCC4-47BC-8967-1D89B72A6CE2}" type="presParOf" srcId="{7DE73016-069E-404E-8E96-30FB2CC57F69}" destId="{16DDC013-B534-43A3-9E86-6EDD3C4569E3}" srcOrd="5" destOrd="0" presId="urn:microsoft.com/office/officeart/2008/layout/LinedList"/>
    <dgm:cxn modelId="{36C8BA9D-0C14-493C-8CB7-C614996A97CB}" type="presParOf" srcId="{16DDC013-B534-43A3-9E86-6EDD3C4569E3}" destId="{126F5D81-6254-4FBF-A688-963FB1ED8B33}" srcOrd="0" destOrd="0" presId="urn:microsoft.com/office/officeart/2008/layout/LinedList"/>
    <dgm:cxn modelId="{4A9F4D40-7B90-4CC9-BD60-80908C60249F}" type="presParOf" srcId="{16DDC013-B534-43A3-9E86-6EDD3C4569E3}" destId="{E7EDEA90-92F5-4650-BF2F-7FEAF568592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331398E-7969-48CA-919C-1F74188CA434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0_3" csCatId="mainScheme" phldr="1"/>
      <dgm:spPr/>
      <dgm:t>
        <a:bodyPr/>
        <a:lstStyle/>
        <a:p>
          <a:endParaRPr lang="en-US"/>
        </a:p>
      </dgm:t>
    </dgm:pt>
    <dgm:pt modelId="{ABEAF406-0BEC-41D9-8D74-E86A9AA191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Human vs. Robot hands are rarely identical.</a:t>
          </a:r>
        </a:p>
      </dgm:t>
    </dgm:pt>
    <dgm:pt modelId="{6CFAFB14-5FC8-4C08-AD32-4644D6B66ED2}" type="parTrans" cxnId="{202081D8-08EB-4B8F-8AB4-4446218F7C46}">
      <dgm:prSet/>
      <dgm:spPr/>
      <dgm:t>
        <a:bodyPr/>
        <a:lstStyle/>
        <a:p>
          <a:endParaRPr lang="en-US"/>
        </a:p>
      </dgm:t>
    </dgm:pt>
    <dgm:pt modelId="{AC78BB80-330C-48C6-87AB-74F6F5D1D904}" type="sibTrans" cxnId="{202081D8-08EB-4B8F-8AB4-4446218F7C46}">
      <dgm:prSet/>
      <dgm:spPr/>
      <dgm:t>
        <a:bodyPr/>
        <a:lstStyle/>
        <a:p>
          <a:endParaRPr lang="en-US"/>
        </a:p>
      </dgm:t>
    </dgm:pt>
    <dgm:pt modelId="{8D612F6F-A235-4F94-A80D-9C53C72235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Joint Mapping:</a:t>
          </a:r>
          <a:r>
            <a:rPr lang="en-US"/>
            <a:t> Fails on non-anthropomorphic robots.</a:t>
          </a:r>
        </a:p>
      </dgm:t>
    </dgm:pt>
    <dgm:pt modelId="{DA38DDB5-1423-409B-85A4-9ACADEFCC5D2}" type="parTrans" cxnId="{14B42B76-1BDE-46C7-983C-67C80994D7FF}">
      <dgm:prSet/>
      <dgm:spPr/>
      <dgm:t>
        <a:bodyPr/>
        <a:lstStyle/>
        <a:p>
          <a:endParaRPr lang="en-US"/>
        </a:p>
      </dgm:t>
    </dgm:pt>
    <dgm:pt modelId="{5DADF3AD-2A4C-4B9F-8795-B0B2F2FDB0B9}" type="sibTrans" cxnId="{14B42B76-1BDE-46C7-983C-67C80994D7FF}">
      <dgm:prSet/>
      <dgm:spPr/>
      <dgm:t>
        <a:bodyPr/>
        <a:lstStyle/>
        <a:p>
          <a:endParaRPr lang="en-US"/>
        </a:p>
      </dgm:t>
    </dgm:pt>
    <dgm:pt modelId="{5576D53A-8863-4D6F-9428-6CC04734BB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Fingertip Mapping:</a:t>
          </a:r>
          <a:r>
            <a:rPr lang="en-US"/>
            <a:t> Fails to respect internal joint limits/collisions.</a:t>
          </a:r>
        </a:p>
      </dgm:t>
    </dgm:pt>
    <dgm:pt modelId="{82EAFC4B-B2F6-4AE4-A233-CEA6BD8C28D5}" type="parTrans" cxnId="{A3554022-D1F9-4F9C-AAB8-8785000BB2EC}">
      <dgm:prSet/>
      <dgm:spPr/>
      <dgm:t>
        <a:bodyPr/>
        <a:lstStyle/>
        <a:p>
          <a:endParaRPr lang="en-US"/>
        </a:p>
      </dgm:t>
    </dgm:pt>
    <dgm:pt modelId="{1C9C9924-150B-4026-BDDD-5011FC334A4C}" type="sibTrans" cxnId="{A3554022-D1F9-4F9C-AAB8-8785000BB2EC}">
      <dgm:prSet/>
      <dgm:spPr/>
      <dgm:t>
        <a:bodyPr/>
        <a:lstStyle/>
        <a:p>
          <a:endParaRPr lang="en-US"/>
        </a:p>
      </dgm:t>
    </dgm:pt>
    <dgm:pt modelId="{68F71B9A-E804-4A93-8A54-7FBD63AD66CA}" type="pres">
      <dgm:prSet presAssocID="{8331398E-7969-48CA-919C-1F74188CA434}" presName="root" presStyleCnt="0">
        <dgm:presLayoutVars>
          <dgm:dir/>
          <dgm:resizeHandles val="exact"/>
        </dgm:presLayoutVars>
      </dgm:prSet>
      <dgm:spPr/>
    </dgm:pt>
    <dgm:pt modelId="{E6737BB9-29B2-44C0-A86E-468590926475}" type="pres">
      <dgm:prSet presAssocID="{ABEAF406-0BEC-41D9-8D74-E86A9AA19198}" presName="compNode" presStyleCnt="0"/>
      <dgm:spPr/>
    </dgm:pt>
    <dgm:pt modelId="{42B23EBC-3AEF-4A76-9B9A-67A080688607}" type="pres">
      <dgm:prSet presAssocID="{ABEAF406-0BEC-41D9-8D74-E86A9AA1919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526D7270-8F52-4EDF-B33B-A31038B11E96}" type="pres">
      <dgm:prSet presAssocID="{ABEAF406-0BEC-41D9-8D74-E86A9AA19198}" presName="spaceRect" presStyleCnt="0"/>
      <dgm:spPr/>
    </dgm:pt>
    <dgm:pt modelId="{881ED40D-1FFB-4A5A-BEF7-080582CA91FA}" type="pres">
      <dgm:prSet presAssocID="{ABEAF406-0BEC-41D9-8D74-E86A9AA19198}" presName="textRect" presStyleLbl="revTx" presStyleIdx="0" presStyleCnt="3">
        <dgm:presLayoutVars>
          <dgm:chMax val="1"/>
          <dgm:chPref val="1"/>
        </dgm:presLayoutVars>
      </dgm:prSet>
      <dgm:spPr/>
    </dgm:pt>
    <dgm:pt modelId="{D26EEB05-B8AC-431A-A852-047BF39E84B5}" type="pres">
      <dgm:prSet presAssocID="{AC78BB80-330C-48C6-87AB-74F6F5D1D904}" presName="sibTrans" presStyleCnt="0"/>
      <dgm:spPr/>
    </dgm:pt>
    <dgm:pt modelId="{4CA59D8D-9857-4F9B-96B1-5A6F978AEE44}" type="pres">
      <dgm:prSet presAssocID="{8D612F6F-A235-4F94-A80D-9C53C72235B3}" presName="compNode" presStyleCnt="0"/>
      <dgm:spPr/>
    </dgm:pt>
    <dgm:pt modelId="{80096428-902F-4F46-8EE4-708269C190BD}" type="pres">
      <dgm:prSet presAssocID="{8D612F6F-A235-4F94-A80D-9C53C72235B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g under Magnifying Glass"/>
        </a:ext>
      </dgm:extLst>
    </dgm:pt>
    <dgm:pt modelId="{F30CBD87-2ACC-4A13-BBAF-389D3455CD3F}" type="pres">
      <dgm:prSet presAssocID="{8D612F6F-A235-4F94-A80D-9C53C72235B3}" presName="spaceRect" presStyleCnt="0"/>
      <dgm:spPr/>
    </dgm:pt>
    <dgm:pt modelId="{1370FD44-A423-49A8-9432-175269085740}" type="pres">
      <dgm:prSet presAssocID="{8D612F6F-A235-4F94-A80D-9C53C72235B3}" presName="textRect" presStyleLbl="revTx" presStyleIdx="1" presStyleCnt="3">
        <dgm:presLayoutVars>
          <dgm:chMax val="1"/>
          <dgm:chPref val="1"/>
        </dgm:presLayoutVars>
      </dgm:prSet>
      <dgm:spPr/>
    </dgm:pt>
    <dgm:pt modelId="{AC5D5283-D700-4982-8B1D-0458DA9D9124}" type="pres">
      <dgm:prSet presAssocID="{5DADF3AD-2A4C-4B9F-8795-B0B2F2FDB0B9}" presName="sibTrans" presStyleCnt="0"/>
      <dgm:spPr/>
    </dgm:pt>
    <dgm:pt modelId="{875A435B-E667-4BF9-ACA0-4A48356BB7AD}" type="pres">
      <dgm:prSet presAssocID="{5576D53A-8863-4D6F-9428-6CC04734BBBD}" presName="compNode" presStyleCnt="0"/>
      <dgm:spPr/>
    </dgm:pt>
    <dgm:pt modelId="{2145DEB0-C20B-49C3-9A89-363308CBC8CE}" type="pres">
      <dgm:prSet presAssocID="{5576D53A-8863-4D6F-9428-6CC04734BBB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tecting Hand"/>
        </a:ext>
      </dgm:extLst>
    </dgm:pt>
    <dgm:pt modelId="{F7A6704A-2450-459C-B133-081A864DB032}" type="pres">
      <dgm:prSet presAssocID="{5576D53A-8863-4D6F-9428-6CC04734BBBD}" presName="spaceRect" presStyleCnt="0"/>
      <dgm:spPr/>
    </dgm:pt>
    <dgm:pt modelId="{D7A0944E-9139-43CC-AE26-06C99876BB2C}" type="pres">
      <dgm:prSet presAssocID="{5576D53A-8863-4D6F-9428-6CC04734BBB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3554022-D1F9-4F9C-AAB8-8785000BB2EC}" srcId="{8331398E-7969-48CA-919C-1F74188CA434}" destId="{5576D53A-8863-4D6F-9428-6CC04734BBBD}" srcOrd="2" destOrd="0" parTransId="{82EAFC4B-B2F6-4AE4-A233-CEA6BD8C28D5}" sibTransId="{1C9C9924-150B-4026-BDDD-5011FC334A4C}"/>
    <dgm:cxn modelId="{DA229728-4932-4E78-B5A0-A49BE9D9789F}" type="presOf" srcId="{ABEAF406-0BEC-41D9-8D74-E86A9AA19198}" destId="{881ED40D-1FFB-4A5A-BEF7-080582CA91FA}" srcOrd="0" destOrd="0" presId="urn:microsoft.com/office/officeart/2018/2/layout/IconLabelList"/>
    <dgm:cxn modelId="{3B94ED49-EF90-47AE-9997-F07F3B184DC8}" type="presOf" srcId="{8331398E-7969-48CA-919C-1F74188CA434}" destId="{68F71B9A-E804-4A93-8A54-7FBD63AD66CA}" srcOrd="0" destOrd="0" presId="urn:microsoft.com/office/officeart/2018/2/layout/IconLabelList"/>
    <dgm:cxn modelId="{14B42B76-1BDE-46C7-983C-67C80994D7FF}" srcId="{8331398E-7969-48CA-919C-1F74188CA434}" destId="{8D612F6F-A235-4F94-A80D-9C53C72235B3}" srcOrd="1" destOrd="0" parTransId="{DA38DDB5-1423-409B-85A4-9ACADEFCC5D2}" sibTransId="{5DADF3AD-2A4C-4B9F-8795-B0B2F2FDB0B9}"/>
    <dgm:cxn modelId="{00BF89CA-E4C0-428D-BD6E-60E7752D1675}" type="presOf" srcId="{8D612F6F-A235-4F94-A80D-9C53C72235B3}" destId="{1370FD44-A423-49A8-9432-175269085740}" srcOrd="0" destOrd="0" presId="urn:microsoft.com/office/officeart/2018/2/layout/IconLabelList"/>
    <dgm:cxn modelId="{DCBFD1D7-74FE-4C8A-A4F5-BA7E2CACD597}" type="presOf" srcId="{5576D53A-8863-4D6F-9428-6CC04734BBBD}" destId="{D7A0944E-9139-43CC-AE26-06C99876BB2C}" srcOrd="0" destOrd="0" presId="urn:microsoft.com/office/officeart/2018/2/layout/IconLabelList"/>
    <dgm:cxn modelId="{202081D8-08EB-4B8F-8AB4-4446218F7C46}" srcId="{8331398E-7969-48CA-919C-1F74188CA434}" destId="{ABEAF406-0BEC-41D9-8D74-E86A9AA19198}" srcOrd="0" destOrd="0" parTransId="{6CFAFB14-5FC8-4C08-AD32-4644D6B66ED2}" sibTransId="{AC78BB80-330C-48C6-87AB-74F6F5D1D904}"/>
    <dgm:cxn modelId="{BD47D96C-BDDE-462F-A9E5-C96893E5D658}" type="presParOf" srcId="{68F71B9A-E804-4A93-8A54-7FBD63AD66CA}" destId="{E6737BB9-29B2-44C0-A86E-468590926475}" srcOrd="0" destOrd="0" presId="urn:microsoft.com/office/officeart/2018/2/layout/IconLabelList"/>
    <dgm:cxn modelId="{124D4226-C788-45AB-BF23-52A30685B006}" type="presParOf" srcId="{E6737BB9-29B2-44C0-A86E-468590926475}" destId="{42B23EBC-3AEF-4A76-9B9A-67A080688607}" srcOrd="0" destOrd="0" presId="urn:microsoft.com/office/officeart/2018/2/layout/IconLabelList"/>
    <dgm:cxn modelId="{D2896714-8E6C-4E56-99C3-FDCD34DB369B}" type="presParOf" srcId="{E6737BB9-29B2-44C0-A86E-468590926475}" destId="{526D7270-8F52-4EDF-B33B-A31038B11E96}" srcOrd="1" destOrd="0" presId="urn:microsoft.com/office/officeart/2018/2/layout/IconLabelList"/>
    <dgm:cxn modelId="{409AE538-DBB3-44E9-A198-C865837FA69F}" type="presParOf" srcId="{E6737BB9-29B2-44C0-A86E-468590926475}" destId="{881ED40D-1FFB-4A5A-BEF7-080582CA91FA}" srcOrd="2" destOrd="0" presId="urn:microsoft.com/office/officeart/2018/2/layout/IconLabelList"/>
    <dgm:cxn modelId="{9F08F329-6A56-43B8-988B-6367242FEBD5}" type="presParOf" srcId="{68F71B9A-E804-4A93-8A54-7FBD63AD66CA}" destId="{D26EEB05-B8AC-431A-A852-047BF39E84B5}" srcOrd="1" destOrd="0" presId="urn:microsoft.com/office/officeart/2018/2/layout/IconLabelList"/>
    <dgm:cxn modelId="{A9701676-B67A-4F97-90C8-1F70704C5DA1}" type="presParOf" srcId="{68F71B9A-E804-4A93-8A54-7FBD63AD66CA}" destId="{4CA59D8D-9857-4F9B-96B1-5A6F978AEE44}" srcOrd="2" destOrd="0" presId="urn:microsoft.com/office/officeart/2018/2/layout/IconLabelList"/>
    <dgm:cxn modelId="{B811055D-4BEF-4427-B9DF-40485FC375D7}" type="presParOf" srcId="{4CA59D8D-9857-4F9B-96B1-5A6F978AEE44}" destId="{80096428-902F-4F46-8EE4-708269C190BD}" srcOrd="0" destOrd="0" presId="urn:microsoft.com/office/officeart/2018/2/layout/IconLabelList"/>
    <dgm:cxn modelId="{4EE77450-3F28-436A-A334-00C46DE59F82}" type="presParOf" srcId="{4CA59D8D-9857-4F9B-96B1-5A6F978AEE44}" destId="{F30CBD87-2ACC-4A13-BBAF-389D3455CD3F}" srcOrd="1" destOrd="0" presId="urn:microsoft.com/office/officeart/2018/2/layout/IconLabelList"/>
    <dgm:cxn modelId="{D3712BCA-2F35-4E4E-BFC6-1CC7E8028A58}" type="presParOf" srcId="{4CA59D8D-9857-4F9B-96B1-5A6F978AEE44}" destId="{1370FD44-A423-49A8-9432-175269085740}" srcOrd="2" destOrd="0" presId="urn:microsoft.com/office/officeart/2018/2/layout/IconLabelList"/>
    <dgm:cxn modelId="{F11CC15E-D75C-43BC-AE13-912131627DFA}" type="presParOf" srcId="{68F71B9A-E804-4A93-8A54-7FBD63AD66CA}" destId="{AC5D5283-D700-4982-8B1D-0458DA9D9124}" srcOrd="3" destOrd="0" presId="urn:microsoft.com/office/officeart/2018/2/layout/IconLabelList"/>
    <dgm:cxn modelId="{13569504-37FF-4BD3-8BF1-8F8D7069C8A7}" type="presParOf" srcId="{68F71B9A-E804-4A93-8A54-7FBD63AD66CA}" destId="{875A435B-E667-4BF9-ACA0-4A48356BB7AD}" srcOrd="4" destOrd="0" presId="urn:microsoft.com/office/officeart/2018/2/layout/IconLabelList"/>
    <dgm:cxn modelId="{352B8B0B-6A8B-4536-BB78-8B7EE54518D8}" type="presParOf" srcId="{875A435B-E667-4BF9-ACA0-4A48356BB7AD}" destId="{2145DEB0-C20B-49C3-9A89-363308CBC8CE}" srcOrd="0" destOrd="0" presId="urn:microsoft.com/office/officeart/2018/2/layout/IconLabelList"/>
    <dgm:cxn modelId="{BB81B28A-A773-4F4F-8A00-9A1810A25F66}" type="presParOf" srcId="{875A435B-E667-4BF9-ACA0-4A48356BB7AD}" destId="{F7A6704A-2450-459C-B133-081A864DB032}" srcOrd="1" destOrd="0" presId="urn:microsoft.com/office/officeart/2018/2/layout/IconLabelList"/>
    <dgm:cxn modelId="{5421A9BA-310E-477E-986A-8E84E2F8EA36}" type="presParOf" srcId="{875A435B-E667-4BF9-ACA0-4A48356BB7AD}" destId="{D7A0944E-9139-43CC-AE26-06C99876BB2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ABC122-B150-4CF1-ABDC-2D3C775761B7}">
      <dsp:nvSpPr>
        <dsp:cNvPr id="0" name=""/>
        <dsp:cNvSpPr/>
      </dsp:nvSpPr>
      <dsp:spPr>
        <a:xfrm>
          <a:off x="0" y="1964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BB1F98-186E-4FDB-97B7-7C813BC775D7}">
      <dsp:nvSpPr>
        <dsp:cNvPr id="0" name=""/>
        <dsp:cNvSpPr/>
      </dsp:nvSpPr>
      <dsp:spPr>
        <a:xfrm>
          <a:off x="0" y="1964"/>
          <a:ext cx="10058399" cy="13398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Robotic hands have many DoFs; difficult to control manually.</a:t>
          </a:r>
        </a:p>
      </dsp:txBody>
      <dsp:txXfrm>
        <a:off x="0" y="1964"/>
        <a:ext cx="10058399" cy="1339810"/>
      </dsp:txXfrm>
    </dsp:sp>
    <dsp:sp modelId="{578E3FA1-BE50-470D-B925-FF4D16EA5431}">
      <dsp:nvSpPr>
        <dsp:cNvPr id="0" name=""/>
        <dsp:cNvSpPr/>
      </dsp:nvSpPr>
      <dsp:spPr>
        <a:xfrm>
          <a:off x="0" y="1341774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230301-6662-44A0-B028-AAA91C595FE0}">
      <dsp:nvSpPr>
        <dsp:cNvPr id="0" name=""/>
        <dsp:cNvSpPr/>
      </dsp:nvSpPr>
      <dsp:spPr>
        <a:xfrm>
          <a:off x="0" y="1341774"/>
          <a:ext cx="10058399" cy="13398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Humans use </a:t>
          </a:r>
          <a:r>
            <a:rPr lang="en-US" sz="2700" b="1" kern="1200"/>
            <a:t>Postural Synergies</a:t>
          </a:r>
          <a:r>
            <a:rPr lang="en-US" sz="2700" kern="1200"/>
            <a:t> to simplify control.</a:t>
          </a:r>
        </a:p>
      </dsp:txBody>
      <dsp:txXfrm>
        <a:off x="0" y="1341774"/>
        <a:ext cx="10058399" cy="1339810"/>
      </dsp:txXfrm>
    </dsp:sp>
    <dsp:sp modelId="{4E3CD7F8-B657-4D3D-88BC-E75BE2A2BF52}">
      <dsp:nvSpPr>
        <dsp:cNvPr id="0" name=""/>
        <dsp:cNvSpPr/>
      </dsp:nvSpPr>
      <dsp:spPr>
        <a:xfrm>
          <a:off x="0" y="2681585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6F5D81-6254-4FBF-A688-963FB1ED8B33}">
      <dsp:nvSpPr>
        <dsp:cNvPr id="0" name=""/>
        <dsp:cNvSpPr/>
      </dsp:nvSpPr>
      <dsp:spPr>
        <a:xfrm>
          <a:off x="0" y="2681585"/>
          <a:ext cx="10058399" cy="13398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Objective:</a:t>
          </a:r>
          <a:r>
            <a:rPr lang="en-US" sz="2700" kern="1200"/>
            <a:t> Use human synergies to drive robots with different kinematics.</a:t>
          </a:r>
          <a:br>
            <a:rPr lang="en-US" sz="2700" kern="1200"/>
          </a:br>
          <a:endParaRPr lang="en-US" sz="2700" kern="1200"/>
        </a:p>
      </dsp:txBody>
      <dsp:txXfrm>
        <a:off x="0" y="2681585"/>
        <a:ext cx="10058399" cy="13398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B23EBC-3AEF-4A76-9B9A-67A080688607}">
      <dsp:nvSpPr>
        <dsp:cNvPr id="0" name=""/>
        <dsp:cNvSpPr/>
      </dsp:nvSpPr>
      <dsp:spPr>
        <a:xfrm>
          <a:off x="1063980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1ED40D-1FFB-4A5A-BEF7-080582CA91FA}">
      <dsp:nvSpPr>
        <dsp:cNvPr id="0" name=""/>
        <dsp:cNvSpPr/>
      </dsp:nvSpPr>
      <dsp:spPr>
        <a:xfrm>
          <a:off x="285097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Human vs. Robot hands are rarely identical.</a:t>
          </a:r>
        </a:p>
      </dsp:txBody>
      <dsp:txXfrm>
        <a:off x="285097" y="2346338"/>
        <a:ext cx="2832300" cy="720000"/>
      </dsp:txXfrm>
    </dsp:sp>
    <dsp:sp modelId="{80096428-902F-4F46-8EE4-708269C190BD}">
      <dsp:nvSpPr>
        <dsp:cNvPr id="0" name=""/>
        <dsp:cNvSpPr/>
      </dsp:nvSpPr>
      <dsp:spPr>
        <a:xfrm>
          <a:off x="4391932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70FD44-A423-49A8-9432-175269085740}">
      <dsp:nvSpPr>
        <dsp:cNvPr id="0" name=""/>
        <dsp:cNvSpPr/>
      </dsp:nvSpPr>
      <dsp:spPr>
        <a:xfrm>
          <a:off x="3613050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Joint Mapping:</a:t>
          </a:r>
          <a:r>
            <a:rPr lang="en-US" sz="1500" kern="1200"/>
            <a:t> Fails on non-anthropomorphic robots.</a:t>
          </a:r>
        </a:p>
      </dsp:txBody>
      <dsp:txXfrm>
        <a:off x="3613050" y="2346338"/>
        <a:ext cx="2832300" cy="720000"/>
      </dsp:txXfrm>
    </dsp:sp>
    <dsp:sp modelId="{2145DEB0-C20B-49C3-9A89-363308CBC8CE}">
      <dsp:nvSpPr>
        <dsp:cNvPr id="0" name=""/>
        <dsp:cNvSpPr/>
      </dsp:nvSpPr>
      <dsp:spPr>
        <a:xfrm>
          <a:off x="7719885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A0944E-9139-43CC-AE26-06C99876BB2C}">
      <dsp:nvSpPr>
        <dsp:cNvPr id="0" name=""/>
        <dsp:cNvSpPr/>
      </dsp:nvSpPr>
      <dsp:spPr>
        <a:xfrm>
          <a:off x="6941002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Fingertip Mapping:</a:t>
          </a:r>
          <a:r>
            <a:rPr lang="en-US" sz="1500" kern="1200"/>
            <a:t> Fails to respect internal joint limits/collisions.</a:t>
          </a:r>
        </a:p>
      </dsp:txBody>
      <dsp:txXfrm>
        <a:off x="6941002" y="2346338"/>
        <a:ext cx="28323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647D98-562B-474D-A750-5C747B5DB465}" type="datetimeFigureOut">
              <a:rPr lang="it-IT" smtClean="0"/>
              <a:t>28/11/2025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CD09B-A72D-451B-ABEC-19F66366F3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8828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DF2BE-1461-4F64-988A-49D542DB81A1}" type="datetime1">
              <a:rPr lang="it-IT" smtClean="0"/>
              <a:t>28/11/2025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085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1C255-7CF8-4D31-8F9A-80691FE7AF4A}" type="datetime1">
              <a:rPr lang="it-IT" smtClean="0"/>
              <a:t>28/11/2025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964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91EA9-E4BA-419B-93D4-890A3CC45BBD}" type="datetime1">
              <a:rPr lang="it-IT" smtClean="0"/>
              <a:t>28/11/2025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091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A1F53-6B0D-401F-B5F9-A97EB0D1B376}" type="datetime1">
              <a:rPr lang="it-IT" smtClean="0"/>
              <a:t>28/11/2025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4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15974-2650-43C0-9388-26D4D09CC5E4}" type="datetime1">
              <a:rPr lang="it-IT" smtClean="0"/>
              <a:t>28/11/2025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4337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7793-E32A-43BA-86A6-FBE7E1645813}" type="datetime1">
              <a:rPr lang="it-IT" smtClean="0"/>
              <a:t>28/11/2025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231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A061E-74F0-4A7C-97AE-44D804F75727}" type="datetime1">
              <a:rPr lang="it-IT" smtClean="0"/>
              <a:t>28/11/2025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it-IT"/>
              <a:t>Sapienza University of Rome – A.A. 2024-2025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6924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BB90881-6B51-447C-A216-04675403CF98}" type="datetime1">
              <a:rPr lang="it-IT" smtClean="0"/>
              <a:t>28/11/2025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it-IT"/>
              <a:t>Sapienza University of Rome – A.A. 2024-2025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393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97374-7D64-4555-9385-49529E591DB8}" type="datetime1">
              <a:rPr lang="it-IT" smtClean="0"/>
              <a:t>28/11/2025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46389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2F495-7F8D-4120-A1E1-78AE4347CCAD}" type="datetime1">
              <a:rPr lang="it-IT" smtClean="0"/>
              <a:t>28/11/2025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1579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CA7B6-13B2-45C6-8B70-D411798412DF}" type="datetime1">
              <a:rPr lang="it-IT" smtClean="0"/>
              <a:t>28/11/2025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3300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0C3791-6A8E-4E34-8FFF-E766C9B1BDEC}" type="datetime1">
              <a:rPr lang="it-IT" smtClean="0"/>
              <a:t>28/11/2025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it-IT"/>
              <a:t>Sapienza University of Rome – A.A. 2024-2025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F518C4C-C9F6-45AA-B3F8-5EB03E5DBACE}" type="slidenum">
              <a:rPr lang="it-IT" smtClean="0"/>
              <a:t>‹N›</a:t>
            </a:fld>
            <a:endParaRPr lang="it-IT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747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B8F8CA-7226-4FCF-DA4C-10ADEF8FB3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8026" y="237457"/>
            <a:ext cx="9537290" cy="2387600"/>
          </a:xfrm>
        </p:spPr>
        <p:txBody>
          <a:bodyPr/>
          <a:lstStyle/>
          <a:p>
            <a:r>
              <a:rPr lang="en-US" dirty="0"/>
              <a:t>Motion Retargeting for Grasping Tasks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B993EBE-9C76-26FD-B193-9B6929E47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11450" y="4411562"/>
            <a:ext cx="7189007" cy="1655762"/>
          </a:xfrm>
        </p:spPr>
        <p:txBody>
          <a:bodyPr/>
          <a:lstStyle/>
          <a:p>
            <a:r>
              <a:rPr lang="en-US" dirty="0"/>
              <a:t>Luca Colamarino, Giuseppe D’Addario, Federico </a:t>
            </a:r>
            <a:r>
              <a:rPr lang="en-US" dirty="0" err="1"/>
              <a:t>Tranzocchi</a:t>
            </a:r>
            <a:r>
              <a:rPr lang="en-US" dirty="0"/>
              <a:t>, Matteo Zamponi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AE4CEC6-B70F-CD9F-DA9A-A7FD126EB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FF16D0E-3413-CA0C-402E-BEC553C1F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1</a:t>
            </a:fld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C6AB36-7F09-8142-D8BE-24C807FD3597}"/>
              </a:ext>
            </a:extLst>
          </p:cNvPr>
          <p:cNvSpPr txBox="1"/>
          <p:nvPr/>
        </p:nvSpPr>
        <p:spPr>
          <a:xfrm>
            <a:off x="2711451" y="3099178"/>
            <a:ext cx="6769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Mapping </a:t>
            </a:r>
            <a:r>
              <a:rPr lang="it-IT" sz="2400" dirty="0" err="1"/>
              <a:t>Synergies</a:t>
            </a:r>
            <a:r>
              <a:rPr lang="it-IT" sz="2400" dirty="0"/>
              <a:t> from Human to </a:t>
            </a:r>
            <a:r>
              <a:rPr lang="it-IT" sz="2400" dirty="0" err="1"/>
              <a:t>Robotic</a:t>
            </a:r>
            <a:r>
              <a:rPr lang="it-IT" sz="2400" dirty="0"/>
              <a:t> Hands</a:t>
            </a:r>
          </a:p>
        </p:txBody>
      </p:sp>
    </p:spTree>
    <p:extLst>
      <p:ext uri="{BB962C8B-B14F-4D97-AF65-F5344CB8AC3E}">
        <p14:creationId xmlns:p14="http://schemas.microsoft.com/office/powerpoint/2010/main" val="420039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027434-D560-E2CF-0B13-BEB1B676C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Synergies</a:t>
            </a:r>
            <a:endParaRPr lang="it-IT" dirty="0"/>
          </a:p>
        </p:txBody>
      </p:sp>
      <p:graphicFrame>
        <p:nvGraphicFramePr>
          <p:cNvPr id="9" name="Segnaposto contenuto 2">
            <a:extLst>
              <a:ext uri="{FF2B5EF4-FFF2-40B4-BE49-F238E27FC236}">
                <a16:creationId xmlns:a16="http://schemas.microsoft.com/office/drawing/2014/main" id="{AB499189-77A6-D392-6F74-29074953FDA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8363603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391EE5F-D0D5-81CC-EBF9-61915CBAE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603F452-DF25-2868-E64E-E53849AC3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9979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9E6A7D-82A3-2E43-52A8-4FA6739A8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it-IT" b="1" dirty="0"/>
              <a:t>The </a:t>
            </a:r>
            <a:r>
              <a:rPr lang="it-IT" b="1" dirty="0" err="1"/>
              <a:t>Correspondence</a:t>
            </a:r>
            <a:r>
              <a:rPr lang="it-IT" b="1" dirty="0"/>
              <a:t> </a:t>
            </a:r>
            <a:r>
              <a:rPr lang="it-IT" b="1" dirty="0" err="1"/>
              <a:t>Problem</a:t>
            </a:r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42E8648-9243-3FFF-4A54-9CBD42AA8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86185" y="6459785"/>
            <a:ext cx="482280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E7679A8-B7D1-B4D4-D5B4-21F0520FF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F518C4C-C9F6-45AA-B3F8-5EB03E5DBACE}" type="slidenum">
              <a:rPr lang="it-IT" smtClean="0"/>
              <a:pPr>
                <a:spcAft>
                  <a:spcPts val="600"/>
                </a:spcAft>
              </a:pPr>
              <a:t>3</a:t>
            </a:fld>
            <a:endParaRPr lang="it-IT"/>
          </a:p>
        </p:txBody>
      </p:sp>
      <p:graphicFrame>
        <p:nvGraphicFramePr>
          <p:cNvPr id="9" name="Segnaposto contenuto 2">
            <a:extLst>
              <a:ext uri="{FF2B5EF4-FFF2-40B4-BE49-F238E27FC236}">
                <a16:creationId xmlns:a16="http://schemas.microsoft.com/office/drawing/2014/main" id="{3A828121-AD52-4F67-37CE-FCE2B3A4A0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5515568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10154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7" name="Rectangle 1066">
            <a:extLst>
              <a:ext uri="{FF2B5EF4-FFF2-40B4-BE49-F238E27FC236}">
                <a16:creationId xmlns:a16="http://schemas.microsoft.com/office/drawing/2014/main" id="{4B019A08-55AD-4038-B865-37DA596B8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28330B0-0488-B107-3256-EFDA50B18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it-IT" b="1"/>
              <a:t>The solution: Virtual Sphere</a:t>
            </a:r>
            <a:endParaRPr lang="it-IT"/>
          </a:p>
        </p:txBody>
      </p:sp>
      <p:pic>
        <p:nvPicPr>
          <p:cNvPr id="1028" name="Picture 4" descr="Immagine che contiene testo, schermata, disegno, design&#10;&#10;Il contenuto generato dall'IA potrebbe non essere corretto.">
            <a:extLst>
              <a:ext uri="{FF2B5EF4-FFF2-40B4-BE49-F238E27FC236}">
                <a16:creationId xmlns:a16="http://schemas.microsoft.com/office/drawing/2014/main" id="{3BAD6838-893C-903B-C028-623BFA7E4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66838" y="645106"/>
            <a:ext cx="3004334" cy="5247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9" name="Straight Connector 1068">
            <a:extLst>
              <a:ext uri="{FF2B5EF4-FFF2-40B4-BE49-F238E27FC236}">
                <a16:creationId xmlns:a16="http://schemas.microsoft.com/office/drawing/2014/main" id="{2BA067F2-7FAF-4758-9BC4-F7C88ED90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B041A5-6971-CC21-6AED-FEC6D2DDA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en-US"/>
              <a:t>Based on Gioioso et al. (2013).</a:t>
            </a:r>
          </a:p>
          <a:p>
            <a:r>
              <a:rPr lang="en-US"/>
              <a:t>Map the </a:t>
            </a:r>
            <a:r>
              <a:rPr lang="en-US" b="1"/>
              <a:t>object</a:t>
            </a:r>
            <a:r>
              <a:rPr lang="en-US"/>
              <a:t>, not the hand.</a:t>
            </a:r>
          </a:p>
          <a:p>
            <a:r>
              <a:rPr lang="en-US"/>
              <a:t>A virtual sphere fits inside the hand; as the hand moves, the sphere </a:t>
            </a:r>
            <a:r>
              <a:rPr lang="en-US" b="1"/>
              <a:t>deforms</a:t>
            </a:r>
            <a:r>
              <a:rPr lang="en-US"/>
              <a:t>.</a:t>
            </a:r>
          </a:p>
          <a:p>
            <a:r>
              <a:rPr lang="en-US"/>
              <a:t>The robot acts to match this sphere deformation.</a:t>
            </a:r>
          </a:p>
        </p:txBody>
      </p:sp>
      <p:sp>
        <p:nvSpPr>
          <p:cNvPr id="1071" name="Rectangle 1070">
            <a:extLst>
              <a:ext uri="{FF2B5EF4-FFF2-40B4-BE49-F238E27FC236}">
                <a16:creationId xmlns:a16="http://schemas.microsoft.com/office/drawing/2014/main" id="{1627C7B9-FD35-4E35-B741-E4A9A5F416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073" name="Rectangle 1072">
            <a:extLst>
              <a:ext uri="{FF2B5EF4-FFF2-40B4-BE49-F238E27FC236}">
                <a16:creationId xmlns:a16="http://schemas.microsoft.com/office/drawing/2014/main" id="{476B7131-2035-43F9-84E8-2B4749D33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659FDAA-F2B6-BE50-E46D-BD02511A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86185" y="6459785"/>
            <a:ext cx="482280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8F9C334-038B-0DBB-F5A0-9896564E2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F518C4C-C9F6-45AA-B3F8-5EB03E5DBACE}" type="slidenum">
              <a:rPr lang="it-IT"/>
              <a:pPr>
                <a:spcAft>
                  <a:spcPts val="600"/>
                </a:spcAft>
              </a:pPr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8752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94DF59-757D-75B4-E9EB-B4BE317F6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it-IT" b="1" dirty="0"/>
              <a:t>System Pipeline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0498D6-26FF-E960-0026-0FF676BA3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>
            <a:normAutofit/>
          </a:bodyPr>
          <a:lstStyle/>
          <a:p>
            <a:r>
              <a:rPr lang="it-IT" b="1" dirty="0"/>
              <a:t>Input:</a:t>
            </a:r>
            <a:r>
              <a:rPr lang="it-IT" dirty="0"/>
              <a:t> </a:t>
            </a:r>
            <a:r>
              <a:rPr lang="it-IT" dirty="0" err="1"/>
              <a:t>Weart</a:t>
            </a:r>
            <a:r>
              <a:rPr lang="it-IT" dirty="0"/>
              <a:t> </a:t>
            </a:r>
            <a:r>
              <a:rPr lang="it-IT" dirty="0" err="1"/>
              <a:t>TouchDIVER</a:t>
            </a:r>
            <a:r>
              <a:rPr lang="it-IT" dirty="0"/>
              <a:t> G1 (</a:t>
            </a:r>
            <a:r>
              <a:rPr lang="it-IT" dirty="0" err="1"/>
              <a:t>Haptic</a:t>
            </a:r>
            <a:r>
              <a:rPr lang="it-IT" dirty="0"/>
              <a:t> </a:t>
            </a:r>
            <a:r>
              <a:rPr lang="it-IT" dirty="0" err="1"/>
              <a:t>Glove</a:t>
            </a:r>
            <a:r>
              <a:rPr lang="it-IT" dirty="0"/>
              <a:t>).</a:t>
            </a:r>
          </a:p>
          <a:p>
            <a:r>
              <a:rPr lang="it-IT" b="1" dirty="0"/>
              <a:t>Processing:</a:t>
            </a:r>
            <a:r>
              <a:rPr lang="it-IT" dirty="0"/>
              <a:t> </a:t>
            </a:r>
            <a:r>
              <a:rPr lang="it-IT" dirty="0" err="1"/>
              <a:t>Neural</a:t>
            </a:r>
            <a:r>
              <a:rPr lang="it-IT" dirty="0"/>
              <a:t> Network </a:t>
            </a:r>
            <a:r>
              <a:rPr lang="it-IT" dirty="0" err="1"/>
              <a:t>reconstructs</a:t>
            </a:r>
            <a:r>
              <a:rPr lang="it-IT" dirty="0"/>
              <a:t> full hand pose (Python).</a:t>
            </a:r>
          </a:p>
          <a:p>
            <a:r>
              <a:rPr lang="it-IT" b="1" dirty="0" err="1"/>
              <a:t>Retargeting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Unity</a:t>
            </a:r>
            <a:r>
              <a:rPr lang="it-IT" dirty="0"/>
              <a:t> </a:t>
            </a:r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computes</a:t>
            </a:r>
            <a:r>
              <a:rPr lang="it-IT" dirty="0"/>
              <a:t> Interaction Matrix.</a:t>
            </a:r>
          </a:p>
          <a:p>
            <a:r>
              <a:rPr lang="it-IT" b="1" dirty="0"/>
              <a:t>Output:</a:t>
            </a:r>
            <a:r>
              <a:rPr lang="it-IT" dirty="0"/>
              <a:t> Robot joint </a:t>
            </a:r>
            <a:r>
              <a:rPr lang="it-IT" dirty="0" err="1"/>
              <a:t>velocities</a:t>
            </a:r>
            <a:r>
              <a:rPr lang="it-IT" dirty="0"/>
              <a:t>.</a:t>
            </a:r>
          </a:p>
        </p:txBody>
      </p:sp>
      <p:pic>
        <p:nvPicPr>
          <p:cNvPr id="2050" name="Picture 2" descr="Buy TouchDIVER haptic glove | WEART">
            <a:extLst>
              <a:ext uri="{FF2B5EF4-FFF2-40B4-BE49-F238E27FC236}">
                <a16:creationId xmlns:a16="http://schemas.microsoft.com/office/drawing/2014/main" id="{120586E3-21AA-4690-610D-F5B9473C4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09" r="24408" b="2"/>
          <a:stretch>
            <a:fillRect/>
          </a:stretch>
        </p:blipFill>
        <p:spPr bwMode="auto">
          <a:xfrm>
            <a:off x="8020570" y="1916318"/>
            <a:ext cx="3135109" cy="347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67F9807-866D-0D69-C0E1-ACD61036F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86185" y="6459785"/>
            <a:ext cx="482280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EA53147-688C-94C8-1CE3-82A7BF02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F518C4C-C9F6-45AA-B3F8-5EB03E5DBACE}" type="slidenum">
              <a:rPr lang="it-IT" smtClean="0"/>
              <a:pPr>
                <a:spcAft>
                  <a:spcPts val="600"/>
                </a:spcAft>
              </a:pPr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2635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8CC19-DA49-F049-D8EF-683237294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 Mathematical Framework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70A7AA-6B3B-7A20-7FCC-81E477CC0F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b="1" dirty="0"/>
                  <a:t>Interaction Matrix (</a:t>
                </a:r>
                <a14:m>
                  <m:oMath xmlns:m="http://schemas.openxmlformats.org/officeDocument/2006/math">
                    <m:r>
                      <a:rPr lang="it-IT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b="1" dirty="0"/>
                  <a:t>):</a:t>
                </a:r>
                <a:r>
                  <a:rPr lang="it-IT" dirty="0"/>
                  <a:t> </a:t>
                </a:r>
                <a:r>
                  <a:rPr lang="it-IT" dirty="0" err="1"/>
                  <a:t>Relates</a:t>
                </a:r>
                <a:r>
                  <a:rPr lang="it-IT" dirty="0"/>
                  <a:t> </a:t>
                </a:r>
                <a:r>
                  <a:rPr lang="it-IT" dirty="0" err="1"/>
                  <a:t>fingertip</a:t>
                </a:r>
                <a:r>
                  <a:rPr lang="it-IT" dirty="0"/>
                  <a:t> </a:t>
                </a:r>
                <a:r>
                  <a:rPr lang="it-IT" dirty="0" err="1"/>
                  <a:t>velocity</a:t>
                </a:r>
                <a:r>
                  <a:rPr lang="it-IT" dirty="0"/>
                  <a:t> to </a:t>
                </a:r>
                <a:r>
                  <a:rPr lang="it-IT" dirty="0" err="1"/>
                  <a:t>sphere</a:t>
                </a:r>
                <a:r>
                  <a:rPr lang="it-IT" dirty="0"/>
                  <a:t> </a:t>
                </a:r>
                <a:r>
                  <a:rPr lang="it-IT" dirty="0" err="1"/>
                  <a:t>velocity</a:t>
                </a:r>
                <a:r>
                  <a:rPr lang="it-IT" dirty="0"/>
                  <a:t>.</a:t>
                </a:r>
              </a:p>
              <a:p>
                <a:r>
                  <a:rPr lang="it-IT" b="1" dirty="0"/>
                  <a:t>Scaling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ar-AE" i="1" smtClean="0">
                            <a:latin typeface="Cambria Math" panose="02040503050406030204" pitchFamily="18" charset="0"/>
                          </a:rPr>
                          <m:t>𝑠𝑐</m:t>
                        </m:r>
                      </m:sub>
                    </m:sSub>
                  </m:oMath>
                </a14:m>
                <a:r>
                  <a:rPr lang="it-IT" b="1" dirty="0"/>
                  <a:t>):</a:t>
                </a:r>
                <a:r>
                  <a:rPr lang="ar-AE" dirty="0"/>
                  <a:t> </a:t>
                </a:r>
                <a:r>
                  <a:rPr lang="it-IT" dirty="0"/>
                  <a:t>Matches human hand size to robot hand size.</a:t>
                </a:r>
              </a:p>
              <a:p>
                <a:r>
                  <a:rPr lang="it-IT" b="1" dirty="0"/>
                  <a:t>Solver:</a:t>
                </a:r>
                <a:r>
                  <a:rPr lang="it-IT" dirty="0"/>
                  <a:t> </a:t>
                </a:r>
                <a:r>
                  <a:rPr lang="it-IT" dirty="0" err="1"/>
                  <a:t>Damped</a:t>
                </a:r>
                <a:r>
                  <a:rPr lang="it-IT" dirty="0"/>
                  <a:t> </a:t>
                </a:r>
                <a:r>
                  <a:rPr lang="it-IT" dirty="0" err="1"/>
                  <a:t>Least</a:t>
                </a:r>
                <a:r>
                  <a:rPr lang="it-IT" dirty="0"/>
                  <a:t> </a:t>
                </a:r>
                <a:r>
                  <a:rPr lang="it-IT" dirty="0" err="1"/>
                  <a:t>Squares</a:t>
                </a:r>
                <a:r>
                  <a:rPr lang="it-IT" dirty="0"/>
                  <a:t> (DLS) for </a:t>
                </a:r>
                <a:r>
                  <a:rPr lang="it-IT" dirty="0" err="1"/>
                  <a:t>stability</a:t>
                </a:r>
                <a:r>
                  <a:rPr lang="it-IT" dirty="0"/>
                  <a:t>.</a:t>
                </a: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70A7AA-6B3B-7A20-7FCC-81E477CC0F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6" t="-1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614EB1-C52E-583B-8DD2-D5251807D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52C63BB-6DDC-F276-3DDB-24DC4426E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1681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D5D786-9EB3-CE30-3B4D-00E37B182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Redundancy</a:t>
            </a:r>
            <a:r>
              <a:rPr lang="it-IT" b="1" dirty="0"/>
              <a:t> </a:t>
            </a:r>
            <a:r>
              <a:rPr lang="it-IT" b="1" dirty="0" err="1"/>
              <a:t>Resolution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E9EA4A-891C-21D7-C51E-0F107C651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for the </a:t>
            </a:r>
            <a:r>
              <a:rPr lang="en-US" b="1" dirty="0"/>
              <a:t>Mia Hand</a:t>
            </a:r>
            <a:r>
              <a:rPr lang="en-US" dirty="0"/>
              <a:t> (High </a:t>
            </a:r>
            <a:r>
              <a:rPr lang="en-US" dirty="0" err="1"/>
              <a:t>DoF</a:t>
            </a:r>
            <a:r>
              <a:rPr lang="en-US" dirty="0"/>
              <a:t>).</a:t>
            </a:r>
          </a:p>
          <a:p>
            <a:r>
              <a:rPr lang="en-US" b="1" dirty="0"/>
              <a:t>Null-Space Projection:</a:t>
            </a:r>
            <a:r>
              <a:rPr lang="en-US" dirty="0"/>
              <a:t> Optimizes internal joints without affecting the grasp.</a:t>
            </a:r>
          </a:p>
          <a:p>
            <a:r>
              <a:rPr lang="en-US" b="1" dirty="0"/>
              <a:t>Goal:</a:t>
            </a:r>
            <a:r>
              <a:rPr lang="en-US" dirty="0"/>
              <a:t> Keep joints centered (away from physical limits).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FCACDD3-E5CE-916E-045A-9E441983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56A16F9-DE42-DB05-D48D-36C7DD27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4903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4C797B-AEDB-BE1F-5648-52ED45FE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 Robot Models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3E55BC-B35A-988A-2564-94087ED5D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Barrett Hand:</a:t>
            </a:r>
            <a:r>
              <a:rPr lang="it-IT" dirty="0"/>
              <a:t> 3 Fingers, Non-</a:t>
            </a:r>
            <a:r>
              <a:rPr lang="it-IT" dirty="0" err="1"/>
              <a:t>anthropomorphic</a:t>
            </a:r>
            <a:r>
              <a:rPr lang="it-IT" dirty="0"/>
              <a:t>. </a:t>
            </a:r>
            <a:r>
              <a:rPr lang="it-IT" dirty="0" err="1"/>
              <a:t>Tests</a:t>
            </a:r>
            <a:r>
              <a:rPr lang="it-IT" dirty="0"/>
              <a:t> </a:t>
            </a:r>
            <a:r>
              <a:rPr lang="it-IT" dirty="0" err="1"/>
              <a:t>adaptability</a:t>
            </a:r>
            <a:r>
              <a:rPr lang="it-IT" dirty="0"/>
              <a:t>.</a:t>
            </a:r>
          </a:p>
          <a:p>
            <a:r>
              <a:rPr lang="it-IT" b="1" dirty="0"/>
              <a:t>Mia Hand:</a:t>
            </a:r>
            <a:r>
              <a:rPr lang="it-IT" dirty="0"/>
              <a:t> 5 Fingers, </a:t>
            </a:r>
            <a:r>
              <a:rPr lang="it-IT" dirty="0" err="1"/>
              <a:t>Anthropomorphic</a:t>
            </a:r>
            <a:r>
              <a:rPr lang="it-IT" dirty="0"/>
              <a:t>. </a:t>
            </a:r>
            <a:r>
              <a:rPr lang="it-IT" dirty="0" err="1"/>
              <a:t>Tests</a:t>
            </a:r>
            <a:r>
              <a:rPr lang="it-IT" dirty="0"/>
              <a:t> </a:t>
            </a:r>
            <a:r>
              <a:rPr lang="it-IT" dirty="0" err="1"/>
              <a:t>redundancy</a:t>
            </a:r>
            <a:r>
              <a:rPr lang="it-IT" dirty="0"/>
              <a:t> </a:t>
            </a:r>
            <a:r>
              <a:rPr lang="it-IT" dirty="0" err="1"/>
              <a:t>handling</a:t>
            </a:r>
            <a:r>
              <a:rPr lang="it-IT" dirty="0"/>
              <a:t>.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94A81390-4736-0809-A62E-3661071BC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63DFEC7-237E-4D12-695C-5CC59314C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6450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8D2C27-0437-2C75-26A9-81CF8851A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0C6EC6-D97D-2663-FA83-4E5231C89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C3990C2-4CE2-9BC4-FC57-C75E3F07C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F46CF9-D652-5510-B3E8-572C7AFAD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7717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05186-CBAD-65E9-7569-69346D0A7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Conclusion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C2E08E-688E-1220-5F06-EDE9F54A8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76BFC0-249F-601D-DE3B-30E087855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Sapienza University of Rome – A.A. 2024-2025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1427045-E889-F523-611D-5C20B5D1B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18C4C-C9F6-45AA-B3F8-5EB03E5DBACE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802099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ttivo">
  <a:themeElements>
    <a:clrScheme name="Retrospettivo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ttiv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ttiv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</Template>
  <TotalTime>1</TotalTime>
  <Words>382</Words>
  <Application>Microsoft Office PowerPoint</Application>
  <PresentationFormat>Widescreen</PresentationFormat>
  <Paragraphs>54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Aptos</vt:lpstr>
      <vt:lpstr>Calibri</vt:lpstr>
      <vt:lpstr>Calibri Light</vt:lpstr>
      <vt:lpstr>Cambria Math</vt:lpstr>
      <vt:lpstr>Retrospettivo</vt:lpstr>
      <vt:lpstr>Motion Retargeting for Grasping Tasks</vt:lpstr>
      <vt:lpstr>Synergies</vt:lpstr>
      <vt:lpstr>The Correspondence Problem</vt:lpstr>
      <vt:lpstr>The solution: Virtual Sphere</vt:lpstr>
      <vt:lpstr>System Pipeline</vt:lpstr>
      <vt:lpstr> Mathematical Framework</vt:lpstr>
      <vt:lpstr>Redundancy Resolution</vt:lpstr>
      <vt:lpstr> Robot Models</vt:lpstr>
      <vt:lpstr>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Zamponi</dc:creator>
  <cp:lastModifiedBy>Matteo Zamponi</cp:lastModifiedBy>
  <cp:revision>1</cp:revision>
  <dcterms:created xsi:type="dcterms:W3CDTF">2025-11-28T10:52:39Z</dcterms:created>
  <dcterms:modified xsi:type="dcterms:W3CDTF">2025-11-28T10:54:16Z</dcterms:modified>
</cp:coreProperties>
</file>